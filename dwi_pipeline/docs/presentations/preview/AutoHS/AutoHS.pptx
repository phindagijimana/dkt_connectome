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5836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332"/>
                </a:solidFill>
                <a:latin typeface="Arial"/>
              </a:rPr>
              <a:t>AutoHS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777240" cy="32004"/>
          </a:xfrm>
          <a:prstGeom prst="rect">
            <a:avLst/>
          </a:prstGeom>
          <a:solidFill>
            <a:srgbClr val="1A5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10454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BIDS App for automated hippocampal sclerosis screening from T1w MRI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74519"/>
            <a:ext cx="10454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A2332"/>
                </a:solidFill>
                <a:latin typeface="Arial"/>
              </a:rPr>
              <a:t>BIDS  anat/T1w   →   per-subject HS report (PDF + JSON), BIDS-compliant derivatives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58568"/>
            <a:ext cx="10454335" cy="10972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23744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A5FB4"/>
                </a:solidFill>
                <a:latin typeface="Arial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39" y="249631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A2332"/>
                </a:solidFill>
                <a:latin typeface="Arial"/>
              </a:rPr>
              <a:t>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514600"/>
            <a:ext cx="7025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FreeSurfer or FastSurfer — cortical parcellation + subcortical aseg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1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A5FB4"/>
                </a:solidFill>
                <a:latin typeface="Arial"/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39" y="30175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A2332"/>
                </a:solidFill>
                <a:latin typeface="Arial"/>
              </a:rPr>
              <a:t>Extract volumes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035808"/>
            <a:ext cx="7025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Left- and right-hippocampus mm³ from FreeSurfer aseg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66159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A5FB4"/>
                </a:solidFill>
                <a:latin typeface="Arial"/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3538727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A2332"/>
                </a:solidFill>
                <a:latin typeface="Arial"/>
              </a:rPr>
              <a:t>Asymmetry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557015"/>
            <a:ext cx="7025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AI = (L − R) / (L + R)   —   direction and magnitude of hippocampal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8736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A5FB4"/>
                </a:solidFill>
                <a:latin typeface="Arial"/>
              </a:rP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39" y="4059935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A2332"/>
                </a:solidFill>
                <a:latin typeface="Arial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078223"/>
            <a:ext cx="7025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Compare AI against published HS thresholds (IDEAS-derived, per-side)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08576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A5FB4"/>
                </a:solidFill>
                <a:latin typeface="Arial"/>
              </a:rPr>
              <a:t>Step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39" y="4581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A2332"/>
                </a:solidFill>
                <a:latin typeface="Arial"/>
              </a:rPr>
              <a:t>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599431"/>
            <a:ext cx="70253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Arial"/>
              </a:rPr>
              <a:t>PDF + JSON, BIDS derivative layout, ready for review or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44768"/>
            <a:ext cx="95399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MIT-licensed BIDS App · runs Docker or Apptainer · single T1w per subject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1447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5836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332"/>
                </a:solidFill>
                <a:latin typeface="Arial"/>
              </a:rPr>
              <a:t>Defaults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777240" cy="32004"/>
          </a:xfrm>
          <a:prstGeom prst="rect">
            <a:avLst/>
          </a:prstGeom>
          <a:solidFill>
            <a:srgbClr val="1A5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10454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Threshold-based classifier, no model to train, no reference cohort required at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23774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B7280"/>
                </a:solidFill>
                <a:latin typeface="Arial"/>
              </a:rPr>
              <a:t>Topic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965960"/>
            <a:ext cx="40233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B7280"/>
                </a:solidFill>
                <a:latin typeface="Arial"/>
              </a:rPr>
              <a:t>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B7280"/>
                </a:solidFill>
                <a:latin typeface="Arial"/>
              </a:rPr>
              <a:t>Why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350008"/>
            <a:ext cx="10454335" cy="10972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51176"/>
            <a:ext cx="2377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2332"/>
                </a:solidFill>
                <a:latin typeface="Arial"/>
              </a:rPr>
              <a:t>Segmentation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551176"/>
            <a:ext cx="40233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FastSurfer (default) or FreeSurfer 7.4.1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551176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Deep-learning speed with recon-all option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916936"/>
            <a:ext cx="10454335" cy="1097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26664"/>
            <a:ext cx="2377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2332"/>
                </a:solidFill>
                <a:latin typeface="Arial"/>
              </a:rPr>
              <a:t>Volume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026664"/>
            <a:ext cx="40233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aseg — Left-/Right-Hippocampus (labels 17, 53)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026664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Robust, well-validated in vivo hippocampus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392424"/>
            <a:ext cx="10454335" cy="1097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02152"/>
            <a:ext cx="2377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2332"/>
                </a:solidFill>
                <a:latin typeface="Arial"/>
              </a:rPr>
              <a:t>Asymmetry index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502152"/>
            <a:ext cx="40233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AI = (L − R) / (L + 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50215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Standard laterality index, dimensionless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867911"/>
            <a:ext cx="10454335" cy="1097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77639"/>
            <a:ext cx="2377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2332"/>
                </a:solidFill>
                <a:latin typeface="Arial"/>
              </a:rPr>
              <a:t>Laterality 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977639"/>
            <a:ext cx="40233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±0.05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977639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Reports Left/Right/Symmetric for the AI 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343399"/>
            <a:ext cx="10454335" cy="1097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453127"/>
            <a:ext cx="2377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2332"/>
                </a:solidFill>
                <a:latin typeface="Arial"/>
              </a:rPr>
              <a:t>HS thresholds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4453127"/>
            <a:ext cx="40233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Left HS: AI &lt; -0.0708   ·   Right HS: AI &gt; 0.0469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4453127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Derived on IDEAS cohort — validated on epilepsy surgical patients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818887"/>
            <a:ext cx="10454335" cy="1097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928615"/>
            <a:ext cx="2377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2332"/>
                </a:solidFill>
                <a:latin typeface="Arial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928615"/>
            <a:ext cx="40233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report.json + report.pdf + summary.txt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4928615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Arial"/>
              </a:rPr>
              <a:t>Machine-readable metrics plus a clinical PDF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5294375"/>
            <a:ext cx="10454335" cy="10972"/>
          </a:xfrm>
          <a:prstGeom prst="rect">
            <a:avLst/>
          </a:prstGeom>
          <a:solidFill>
            <a:srgbClr val="ED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6144768"/>
            <a:ext cx="95399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One knob per user: --fastsurfer (default) or --freesurfer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74375" y="61447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658368"/>
            <a:ext cx="10454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332"/>
                </a:solidFill>
                <a:latin typeface="Arial"/>
              </a:rPr>
              <a:t>Sample subject — sub-001, IDEAS BIDS release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777240" cy="32004"/>
          </a:xfrm>
          <a:prstGeom prst="rect">
            <a:avLst/>
          </a:prstGeom>
          <a:solidFill>
            <a:srgbClr val="1A5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10454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T1w with left (blue) and right (orange) hippocampus overlays · AutoHS auto-classified as No 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332"/>
                </a:solidFill>
                <a:latin typeface="Arial"/>
              </a:rPr>
              <a:t>5212 mm³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865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7280"/>
                </a:solidFill>
                <a:latin typeface="Arial"/>
              </a:rPr>
              <a:t>left hippocampus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332"/>
                </a:solidFill>
                <a:latin typeface="Arial"/>
              </a:rPr>
              <a:t>5550 mm³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5526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7280"/>
                </a:solidFill>
                <a:latin typeface="Arial"/>
              </a:rPr>
              <a:t>right hippocampus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332"/>
                </a:solidFill>
                <a:latin typeface="Arial"/>
              </a:rPr>
              <a:t>AI = -0.031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2394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7280"/>
                </a:solidFill>
                <a:latin typeface="Arial"/>
              </a:rPr>
              <a:t>laterality: Symmetric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634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A2332"/>
                </a:solidFill>
                <a:latin typeface="Arial"/>
              </a:rPr>
              <a:t>Balanced (No HS)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99262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7280"/>
                </a:solidFill>
                <a:latin typeface="Arial"/>
              </a:rPr>
              <a:t>HS classification</a:t>
            </a:r>
          </a:p>
        </p:txBody>
      </p:sp>
      <p:pic>
        <p:nvPicPr>
          <p:cNvPr id="13" name="Picture 12" descr="fig-hippo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965960"/>
            <a:ext cx="5438811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51960" y="5843016"/>
            <a:ext cx="70710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Arial"/>
              </a:rPr>
              <a:t>Coronal T1w slice through the largest hippocampal cross-section; overlay from aparc+aseg.mgz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44768"/>
            <a:ext cx="95399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|AI|=0.031 is inside both HS thresholds (L=0.071, R=0.047) — subject flagged as balanced/no 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4375" y="614476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